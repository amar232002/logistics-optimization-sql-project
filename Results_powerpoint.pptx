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70" r:id="rId4"/>
    <p:sldId id="258" r:id="rId5"/>
    <p:sldId id="273" r:id="rId6"/>
    <p:sldId id="259" r:id="rId7"/>
    <p:sldId id="260" r:id="rId8"/>
    <p:sldId id="261" r:id="rId9"/>
    <p:sldId id="262" r:id="rId10"/>
    <p:sldId id="274" r:id="rId11"/>
    <p:sldId id="263" r:id="rId12"/>
    <p:sldId id="264" r:id="rId13"/>
    <p:sldId id="275" r:id="rId14"/>
    <p:sldId id="266" r:id="rId15"/>
    <p:sldId id="271" r:id="rId16"/>
    <p:sldId id="267" r:id="rId17"/>
    <p:sldId id="269" r:id="rId18"/>
    <p:sldId id="27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(Hours)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15</c:v>
                </c:pt>
                <c:pt idx="2">
                  <c:v>9</c:v>
                </c:pt>
                <c:pt idx="3">
                  <c:v>18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79-40DA-8F5C-17EC0FBB5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>
        <c:manualLayout>
          <c:xMode val="edge"/>
          <c:yMode val="edge"/>
          <c:x val="0.3568055555555556"/>
          <c:y val="3.8194444444444448E-2"/>
        </c:manualLayout>
      </c:layout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Ratio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Route A</c:v>
                </c:pt>
                <c:pt idx="1">
                  <c:v>Route B</c:v>
                </c:pt>
                <c:pt idx="2">
                  <c:v>Route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0.6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18-4BCF-B819-D50C1D6FEF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(Hours)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WH1</c:v>
                </c:pt>
                <c:pt idx="1">
                  <c:v>WH2</c:v>
                </c:pt>
                <c:pt idx="2">
                  <c:v>WH3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14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23-484D-825D-2C7D2EA8B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600CA-D542-470E-B910-F606F8C7DA6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927F1-4CA0-4C4D-AA37-1594B43CD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8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927F1-4CA0-4C4D-AA37-1594B43CDEA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167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0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2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9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9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4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0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8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63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8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3755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34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9086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78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4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7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6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7639" y="327213"/>
            <a:ext cx="7398808" cy="2102221"/>
          </a:xfrm>
        </p:spPr>
        <p:txBody>
          <a:bodyPr>
            <a:normAutofit/>
          </a:bodyPr>
          <a:lstStyle/>
          <a:p>
            <a:r>
              <a:rPr b="1" u="sng" dirty="0"/>
              <a:t>DHL Logistics Optimization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7310" y="3127874"/>
            <a:ext cx="7398808" cy="1865467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Complete SQL Queries, Results &amp; Visual Analysis</a:t>
            </a:r>
          </a:p>
          <a:p>
            <a:pPr algn="ctr"/>
            <a:r>
              <a:rPr sz="4800" b="1" dirty="0"/>
              <a:t>Amarnath Chatterjee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412" y="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sz="3600" b="1" u="sng" dirty="0"/>
              <a:t>Task 1: Data Cleaning &amp; Preparation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494" y="1308847"/>
            <a:ext cx="7324165" cy="5396753"/>
          </a:xfrm>
        </p:spPr>
        <p:txBody>
          <a:bodyPr>
            <a:normAutofit fontScale="92500"/>
          </a:bodyPr>
          <a:lstStyle/>
          <a:p>
            <a:r>
              <a:rPr lang="en-US" sz="1100" dirty="0"/>
              <a:t>-- -----------------------------------------TASK 1.1 --------------------------------------------------------------------</a:t>
            </a:r>
          </a:p>
          <a:p>
            <a:r>
              <a:rPr lang="en-US" sz="1100" dirty="0"/>
              <a:t> SELECT </a:t>
            </a:r>
            <a:r>
              <a:rPr lang="en-US" sz="1100" dirty="0" err="1"/>
              <a:t>Order_ID</a:t>
            </a:r>
            <a:r>
              <a:rPr lang="en-US" sz="1100" dirty="0"/>
              <a:t>, COUNT(*) AS duplicate_count-- FROM orders-- GROUP BY </a:t>
            </a:r>
            <a:r>
              <a:rPr lang="en-US" sz="1100" dirty="0" err="1"/>
              <a:t>Order_ID</a:t>
            </a:r>
            <a:r>
              <a:rPr lang="en-US" sz="1100" dirty="0"/>
              <a:t>-- HAVING COUNT(*) &gt; 1;-- SELECT Shipment_ID, COUNT(*) AS duplicate_count-- FROM shipments-- GROUP BY Shipment_ID-- HAVING COUNT(*) &gt; 1;-- </a:t>
            </a:r>
          </a:p>
          <a:p>
            <a:r>
              <a:rPr lang="en-US" sz="1100" dirty="0"/>
              <a:t>-----------------------------------------TASK 1.2 -------------------------------------------------- </a:t>
            </a:r>
          </a:p>
          <a:p>
            <a:pPr marL="0" indent="0">
              <a:buNone/>
            </a:pPr>
            <a:r>
              <a:rPr lang="en-US" sz="1100" dirty="0"/>
              <a:t>SELECT Shipment_ID, </a:t>
            </a:r>
            <a:r>
              <a:rPr lang="en-US" sz="1100" dirty="0" err="1"/>
              <a:t>Route_ID</a:t>
            </a:r>
            <a:r>
              <a:rPr lang="en-US" sz="1100" dirty="0"/>
              <a:t>, </a:t>
            </a:r>
            <a:r>
              <a:rPr lang="en-US" sz="1100" dirty="0" err="1"/>
              <a:t>Delay_Hours</a:t>
            </a:r>
            <a:r>
              <a:rPr lang="en-US" sz="1100" dirty="0"/>
              <a:t>-- FROM shipments-- WHERE </a:t>
            </a:r>
            <a:r>
              <a:rPr lang="en-US" sz="1100" dirty="0" err="1"/>
              <a:t>Delay_Hours</a:t>
            </a:r>
            <a:r>
              <a:rPr lang="en-US" sz="1100" dirty="0"/>
              <a:t> IS NULL;-- -- Find Average Delay per Route ----  -- SELECT </a:t>
            </a:r>
            <a:r>
              <a:rPr lang="en-US" sz="1100" dirty="0" err="1"/>
              <a:t>Route_ID</a:t>
            </a:r>
            <a:r>
              <a:rPr lang="en-US" sz="1100" dirty="0"/>
              <a:t>, AVG(</a:t>
            </a:r>
            <a:r>
              <a:rPr lang="en-US" sz="1100" dirty="0" err="1"/>
              <a:t>Delay_Hours</a:t>
            </a:r>
            <a:r>
              <a:rPr lang="en-US" sz="1100" dirty="0"/>
              <a:t>) AS </a:t>
            </a:r>
            <a:r>
              <a:rPr lang="en-US" sz="1100" dirty="0" err="1"/>
              <a:t>avg_delay</a:t>
            </a:r>
            <a:r>
              <a:rPr lang="en-US" sz="1100" dirty="0"/>
              <a:t>-- FROM shipments-- WHERE </a:t>
            </a:r>
            <a:r>
              <a:rPr lang="en-US" sz="1100" dirty="0" err="1"/>
              <a:t>Delay_Hours</a:t>
            </a:r>
            <a:r>
              <a:rPr lang="en-US" sz="1100" dirty="0"/>
              <a:t> IS NOT NULL-- GROUP BY </a:t>
            </a:r>
            <a:r>
              <a:rPr lang="en-US" sz="1100" dirty="0" err="1"/>
              <a:t>Route_ID</a:t>
            </a:r>
            <a:r>
              <a:rPr lang="en-US" sz="1100" dirty="0"/>
              <a:t>;-- -- -------- Replace NULL with Route-wise Average------------------------------------ UPDATE shipments s-- JOIN (--     SELECT </a:t>
            </a:r>
            <a:r>
              <a:rPr lang="en-US" sz="1100" dirty="0" err="1"/>
              <a:t>Route_ID</a:t>
            </a:r>
            <a:r>
              <a:rPr lang="en-US" sz="1100" dirty="0"/>
              <a:t>, AVG(</a:t>
            </a:r>
            <a:r>
              <a:rPr lang="en-US" sz="1100" dirty="0" err="1"/>
              <a:t>Delay_Hours</a:t>
            </a:r>
            <a:r>
              <a:rPr lang="en-US" sz="1100" dirty="0"/>
              <a:t>) AS </a:t>
            </a:r>
            <a:r>
              <a:rPr lang="en-US" sz="1100" dirty="0" err="1"/>
              <a:t>avg_delay</a:t>
            </a:r>
            <a:r>
              <a:rPr lang="en-US" sz="1100" dirty="0"/>
              <a:t>--     FROM shipments--     WHERE </a:t>
            </a:r>
            <a:r>
              <a:rPr lang="en-US" sz="1100" dirty="0" err="1"/>
              <a:t>Delay_Hours</a:t>
            </a:r>
            <a:r>
              <a:rPr lang="en-US" sz="1100" dirty="0"/>
              <a:t> IS NOT NULL--     GROUP BY </a:t>
            </a:r>
            <a:r>
              <a:rPr lang="en-US" sz="1100" dirty="0" err="1"/>
              <a:t>Route_ID</a:t>
            </a:r>
            <a:r>
              <a:rPr lang="en-US" sz="1100" dirty="0"/>
              <a:t>-- ) </a:t>
            </a:r>
            <a:r>
              <a:rPr lang="en-US" sz="1100" dirty="0" err="1"/>
              <a:t>avg_table</a:t>
            </a:r>
            <a:r>
              <a:rPr lang="en-US" sz="1100" dirty="0"/>
              <a:t>-- ON </a:t>
            </a:r>
            <a:r>
              <a:rPr lang="en-US" sz="1100" dirty="0" err="1"/>
              <a:t>s.Route_ID</a:t>
            </a:r>
            <a:r>
              <a:rPr lang="en-US" sz="1100" dirty="0"/>
              <a:t> = </a:t>
            </a:r>
            <a:r>
              <a:rPr lang="en-US" sz="1100" dirty="0" err="1"/>
              <a:t>avg_table.Route_ID</a:t>
            </a:r>
            <a:r>
              <a:rPr lang="en-US" sz="1100" dirty="0"/>
              <a:t>-- SET </a:t>
            </a:r>
            <a:r>
              <a:rPr lang="en-US" sz="1100" dirty="0" err="1"/>
              <a:t>s.Delay_Hours</a:t>
            </a:r>
            <a:r>
              <a:rPr lang="en-US" sz="1100" dirty="0"/>
              <a:t> = </a:t>
            </a:r>
            <a:r>
              <a:rPr lang="en-US" sz="1100" dirty="0" err="1"/>
              <a:t>avg_table.avg_delay</a:t>
            </a:r>
            <a:r>
              <a:rPr lang="en-US" sz="1100" dirty="0"/>
              <a:t>-- WHERE </a:t>
            </a:r>
            <a:r>
              <a:rPr lang="en-US" sz="1100" dirty="0" err="1"/>
              <a:t>s.Delay_Hours</a:t>
            </a:r>
            <a:r>
              <a:rPr lang="en-US" sz="1100" dirty="0"/>
              <a:t> IS NULL;-- SELECT COUNT(*) AS </a:t>
            </a:r>
            <a:r>
              <a:rPr lang="en-US" sz="1100" dirty="0" err="1"/>
              <a:t>null_count</a:t>
            </a:r>
            <a:r>
              <a:rPr lang="en-US" sz="1100" dirty="0"/>
              <a:t>-- FROM shipments-- WHERE </a:t>
            </a:r>
            <a:r>
              <a:rPr lang="en-US" sz="1100" dirty="0" err="1"/>
              <a:t>Delay_Hours</a:t>
            </a:r>
            <a:r>
              <a:rPr lang="en-US" sz="1100" dirty="0"/>
              <a:t> IS NULL;</a:t>
            </a:r>
          </a:p>
          <a:p>
            <a:pPr marL="0" indent="0">
              <a:buNone/>
            </a:pPr>
            <a:r>
              <a:rPr lang="en-US" sz="1100" dirty="0"/>
              <a:t>          -- --------------------------------TASK 1.3 -------------------------------------------------</a:t>
            </a:r>
          </a:p>
          <a:p>
            <a:pPr marL="0" indent="0">
              <a:buNone/>
            </a:pPr>
            <a:r>
              <a:rPr lang="en-US" sz="1100" dirty="0"/>
              <a:t> SELECT * FROM orders;--  SELECT </a:t>
            </a:r>
            <a:r>
              <a:rPr lang="en-US" sz="1100" dirty="0" err="1"/>
              <a:t>Order_Date</a:t>
            </a:r>
            <a:r>
              <a:rPr lang="en-US" sz="1100" dirty="0"/>
              <a:t>-- FROM orders-- LIMIT 5;-- ALTER TABLE orders-- MODIFY </a:t>
            </a:r>
            <a:r>
              <a:rPr lang="en-US" sz="1100" dirty="0" err="1"/>
              <a:t>Order_Date</a:t>
            </a:r>
            <a:r>
              <a:rPr lang="en-US" sz="1100" dirty="0"/>
              <a:t> DATETIME;-- SELECT * FROM shipments;-- SELECT </a:t>
            </a:r>
            <a:r>
              <a:rPr lang="en-US" sz="1100" dirty="0" err="1"/>
              <a:t>Pickup_Date</a:t>
            </a:r>
            <a:r>
              <a:rPr lang="en-US" sz="1100" dirty="0"/>
              <a:t>, </a:t>
            </a:r>
            <a:r>
              <a:rPr lang="en-US" sz="1100" dirty="0" err="1"/>
              <a:t>Delivery_Date</a:t>
            </a:r>
            <a:r>
              <a:rPr lang="en-US" sz="1100" dirty="0"/>
              <a:t>-- FROM shipments-- LIMIT 5;-- </a:t>
            </a:r>
          </a:p>
          <a:p>
            <a:pPr marL="0" indent="0">
              <a:buNone/>
            </a:pPr>
            <a:r>
              <a:rPr lang="en-US" sz="1100" dirty="0"/>
              <a:t>----------------------TASK 1.4 ------------------------------------------- </a:t>
            </a:r>
          </a:p>
          <a:p>
            <a:pPr marL="0" indent="0">
              <a:buNone/>
            </a:pPr>
            <a:r>
              <a:rPr lang="en-US" sz="1100" dirty="0"/>
              <a:t>SELECT * FROM shipments;-- SELECT --     Shipment_ID,--     </a:t>
            </a:r>
            <a:r>
              <a:rPr lang="en-US" sz="1100" dirty="0" err="1"/>
              <a:t>Pickup_Date</a:t>
            </a:r>
            <a:r>
              <a:rPr lang="en-US" sz="1100" dirty="0"/>
              <a:t>,--     </a:t>
            </a:r>
            <a:r>
              <a:rPr lang="en-US" sz="1100" dirty="0" err="1"/>
              <a:t>Delivery_Date</a:t>
            </a:r>
            <a:r>
              <a:rPr lang="en-US" sz="1100" dirty="0"/>
              <a:t>,--     'INVALID_DATE' AS </a:t>
            </a:r>
            <a:r>
              <a:rPr lang="en-US" sz="1100" dirty="0" err="1"/>
              <a:t>status_flag</a:t>
            </a:r>
            <a:r>
              <a:rPr lang="en-US" sz="1100" dirty="0"/>
              <a:t>-- FROM shipments-- WHERE </a:t>
            </a:r>
            <a:r>
              <a:rPr lang="en-US" sz="1100" dirty="0" err="1"/>
              <a:t>Delivery_Date</a:t>
            </a:r>
            <a:r>
              <a:rPr lang="en-US" sz="1100" dirty="0"/>
              <a:t> &lt; </a:t>
            </a:r>
            <a:r>
              <a:rPr lang="en-US" sz="1100" dirty="0" err="1"/>
              <a:t>Pickup_Date</a:t>
            </a:r>
            <a:r>
              <a:rPr lang="en-US" sz="1100" dirty="0"/>
              <a:t>;-- ALTER TABLE shipments-- ADD COLUMN </a:t>
            </a:r>
            <a:r>
              <a:rPr lang="en-US" sz="1100" dirty="0" err="1"/>
              <a:t>date_validation_status</a:t>
            </a:r>
            <a:r>
              <a:rPr lang="en-US" sz="1100" dirty="0"/>
              <a:t> VARCHAR(20);-- UPDATE shipments-- SET </a:t>
            </a:r>
            <a:r>
              <a:rPr lang="en-US" sz="1100" dirty="0" err="1"/>
              <a:t>date_validation_status</a:t>
            </a:r>
            <a:r>
              <a:rPr lang="en-US" sz="1100" dirty="0"/>
              <a:t> = 'INVALID'-- WHERE </a:t>
            </a:r>
            <a:r>
              <a:rPr lang="en-US" sz="1100" dirty="0" err="1"/>
              <a:t>Delivery_Date</a:t>
            </a:r>
            <a:r>
              <a:rPr lang="en-US" sz="1100" dirty="0"/>
              <a:t> &lt; </a:t>
            </a:r>
            <a:r>
              <a:rPr lang="en-US" sz="1100" dirty="0" err="1"/>
              <a:t>Pickup_Date</a:t>
            </a:r>
            <a:r>
              <a:rPr lang="en-US" sz="1100" dirty="0"/>
              <a:t>;-- UPDATE shipments-- SET </a:t>
            </a:r>
            <a:r>
              <a:rPr lang="en-US" sz="1100" dirty="0" err="1"/>
              <a:t>date_validation_status</a:t>
            </a:r>
            <a:r>
              <a:rPr lang="en-US" sz="1100" dirty="0"/>
              <a:t> = 'VALID'-- WHERE </a:t>
            </a:r>
            <a:r>
              <a:rPr lang="en-US" sz="1100" dirty="0" err="1"/>
              <a:t>Delivery_Date</a:t>
            </a:r>
            <a:r>
              <a:rPr lang="en-US" sz="1100" dirty="0"/>
              <a:t> &gt;= </a:t>
            </a:r>
            <a:r>
              <a:rPr lang="en-US" sz="1100" dirty="0" err="1"/>
              <a:t>Pickup_Date</a:t>
            </a:r>
            <a:r>
              <a:rPr lang="en-US" sz="1100" dirty="0"/>
              <a:t>;-- SELECT Shipment_ID, </a:t>
            </a:r>
            <a:r>
              <a:rPr lang="en-US" sz="1100" dirty="0" err="1"/>
              <a:t>Pickup_Date</a:t>
            </a:r>
            <a:r>
              <a:rPr lang="en-US" sz="1100" dirty="0"/>
              <a:t>, </a:t>
            </a:r>
            <a:r>
              <a:rPr lang="en-US" sz="1100" dirty="0" err="1"/>
              <a:t>Delivery_Date</a:t>
            </a:r>
            <a:r>
              <a:rPr lang="en-US" sz="1100" dirty="0"/>
              <a:t>, </a:t>
            </a:r>
            <a:r>
              <a:rPr lang="en-US" sz="1100" dirty="0" err="1"/>
              <a:t>date_validation_status</a:t>
            </a:r>
            <a:r>
              <a:rPr lang="en-US" sz="1100" dirty="0"/>
              <a:t>-- FROM shipments-- WHERE </a:t>
            </a:r>
            <a:r>
              <a:rPr lang="en-US" sz="1100" dirty="0" err="1"/>
              <a:t>date_validation_status</a:t>
            </a:r>
            <a:r>
              <a:rPr lang="en-US" sz="1100" dirty="0"/>
              <a:t> = 'INVALID’;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sz="1100" dirty="0"/>
              <a:t>--------------------------------------TASK 1.5 ---------------------------------------------------------------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sz="1100" dirty="0"/>
              <a:t> SELECT </a:t>
            </a:r>
            <a:r>
              <a:rPr lang="en-US" sz="1100" dirty="0" err="1"/>
              <a:t>s.Shipment_ID</a:t>
            </a:r>
            <a:r>
              <a:rPr lang="en-US" sz="1100" dirty="0"/>
              <a:t>, </a:t>
            </a:r>
            <a:r>
              <a:rPr lang="en-US" sz="1100" dirty="0" err="1"/>
              <a:t>s.Order_ID</a:t>
            </a:r>
            <a:r>
              <a:rPr lang="en-US" sz="1100" dirty="0"/>
              <a:t>-- FROM shipments s-- LEFT JOIN orders o-- ON </a:t>
            </a:r>
            <a:r>
              <a:rPr lang="en-US" sz="1100" dirty="0" err="1"/>
              <a:t>s.Order_ID</a:t>
            </a:r>
            <a:r>
              <a:rPr lang="en-US" sz="1100" dirty="0"/>
              <a:t> = </a:t>
            </a:r>
            <a:r>
              <a:rPr lang="en-US" sz="1100" dirty="0" err="1"/>
              <a:t>o.Order_ID</a:t>
            </a:r>
            <a:r>
              <a:rPr lang="en-US" sz="1100" dirty="0"/>
              <a:t>-- WHERE </a:t>
            </a:r>
            <a:r>
              <a:rPr lang="en-US" sz="1100" dirty="0" err="1"/>
              <a:t>o.Order_ID</a:t>
            </a:r>
            <a:r>
              <a:rPr lang="en-US" sz="1100" dirty="0"/>
              <a:t> IS NULL;-- SELECT </a:t>
            </a:r>
            <a:r>
              <a:rPr lang="en-US" sz="1100" dirty="0" err="1"/>
              <a:t>s.Shipment_ID</a:t>
            </a:r>
            <a:r>
              <a:rPr lang="en-US" sz="1100" dirty="0"/>
              <a:t>, </a:t>
            </a:r>
            <a:r>
              <a:rPr lang="en-US" sz="1100" dirty="0" err="1"/>
              <a:t>s.Route_ID</a:t>
            </a:r>
            <a:r>
              <a:rPr lang="en-US" sz="1100" dirty="0"/>
              <a:t>-- FROM shipments s-- LEFT JOIN routes r-- ON </a:t>
            </a:r>
            <a:r>
              <a:rPr lang="en-US" sz="1100" dirty="0" err="1"/>
              <a:t>s.Route_ID</a:t>
            </a:r>
            <a:r>
              <a:rPr lang="en-US" sz="1100" dirty="0"/>
              <a:t> = </a:t>
            </a:r>
            <a:r>
              <a:rPr lang="en-US" sz="1100" dirty="0" err="1"/>
              <a:t>r.Route_ID</a:t>
            </a:r>
            <a:r>
              <a:rPr lang="en-US" sz="1100" dirty="0"/>
              <a:t>-- WHERE </a:t>
            </a:r>
            <a:r>
              <a:rPr lang="en-US" sz="1100" dirty="0" err="1"/>
              <a:t>r.Route_ID</a:t>
            </a:r>
            <a:r>
              <a:rPr lang="en-US" sz="1100" dirty="0"/>
              <a:t> IS NULL;-- SELECT </a:t>
            </a:r>
            <a:r>
              <a:rPr lang="en-US" sz="1100" dirty="0" err="1"/>
              <a:t>s.Shipment_ID</a:t>
            </a:r>
            <a:r>
              <a:rPr lang="en-US" sz="1100" dirty="0"/>
              <a:t>, </a:t>
            </a:r>
            <a:r>
              <a:rPr lang="en-US" sz="1100" dirty="0" err="1"/>
              <a:t>s.Warehouse_ID</a:t>
            </a:r>
            <a:r>
              <a:rPr lang="en-US" sz="1100" dirty="0"/>
              <a:t>-- FROM shipments s-- LEFT JOIN warehouses w-- ON </a:t>
            </a:r>
            <a:r>
              <a:rPr lang="en-US" sz="1100" dirty="0" err="1"/>
              <a:t>s.Warehouse_ID</a:t>
            </a:r>
            <a:r>
              <a:rPr lang="en-US" sz="1100" dirty="0"/>
              <a:t> = </a:t>
            </a:r>
            <a:r>
              <a:rPr lang="en-US" sz="1100" dirty="0" err="1"/>
              <a:t>w.Warehouse_ID</a:t>
            </a:r>
            <a:r>
              <a:rPr lang="en-US" sz="1100" dirty="0"/>
              <a:t>-- WHERE </a:t>
            </a:r>
            <a:r>
              <a:rPr lang="en-US" sz="1100" dirty="0" err="1"/>
              <a:t>w.Warehouse_ID</a:t>
            </a:r>
            <a:r>
              <a:rPr lang="en-US" sz="1100" dirty="0"/>
              <a:t> IS NULL;</a:t>
            </a:r>
            <a:endParaRPr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DDDA-CC1D-381E-F2B6-75E517C1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37762" y="376517"/>
            <a:ext cx="5620869" cy="779929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/>
              <a:t> Screenshots TASK 1 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A6F6528-B867-06B3-2403-2C58C9D51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840730"/>
            <a:ext cx="3836892" cy="4192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B9CABE-554B-64FD-5A83-BE20F340F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1" y="1840730"/>
            <a:ext cx="4177552" cy="359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0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1" y="295835"/>
            <a:ext cx="7010400" cy="1609165"/>
          </a:xfrm>
        </p:spPr>
        <p:txBody>
          <a:bodyPr/>
          <a:lstStyle/>
          <a:p>
            <a:pPr algn="ctr"/>
            <a:r>
              <a:rPr b="1" u="sng" dirty="0"/>
              <a:t>Task 2: Delivery Delay Analysis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22612"/>
            <a:ext cx="7010400" cy="48319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Task 2.1: Calculate Delivery Delay (in Hours) for Each Shipment– </a:t>
            </a:r>
          </a:p>
          <a:p>
            <a:pPr marL="0" indent="0">
              <a:buNone/>
            </a:pPr>
            <a:r>
              <a:rPr lang="en-US" dirty="0"/>
              <a:t>SELECT --     Shipment_ID,--     </a:t>
            </a:r>
            <a:r>
              <a:rPr lang="en-US" dirty="0" err="1"/>
              <a:t>Pickup_Date</a:t>
            </a:r>
            <a:r>
              <a:rPr lang="en-US" dirty="0"/>
              <a:t>,--     </a:t>
            </a:r>
            <a:r>
              <a:rPr lang="en-US" dirty="0" err="1"/>
              <a:t>Delivery_Date</a:t>
            </a:r>
            <a:r>
              <a:rPr lang="en-US" dirty="0"/>
              <a:t>,--     TIMESTAMPDIFF(HOUR, </a:t>
            </a:r>
            <a:r>
              <a:rPr lang="en-US" dirty="0" err="1"/>
              <a:t>Pickup_Date</a:t>
            </a:r>
            <a:r>
              <a:rPr lang="en-US" dirty="0"/>
              <a:t>, </a:t>
            </a:r>
            <a:r>
              <a:rPr lang="en-US" dirty="0" err="1"/>
              <a:t>Delivery_Date</a:t>
            </a:r>
            <a:r>
              <a:rPr lang="en-US" dirty="0"/>
              <a:t>) AS </a:t>
            </a:r>
            <a:r>
              <a:rPr lang="en-US" dirty="0" err="1"/>
              <a:t>Delivery_Delay_Hours</a:t>
            </a:r>
            <a:r>
              <a:rPr lang="en-US" dirty="0"/>
              <a:t> FROM shipments;</a:t>
            </a:r>
          </a:p>
          <a:p>
            <a:pPr marL="0" indent="0">
              <a:buNone/>
            </a:pPr>
            <a:r>
              <a:rPr lang="en-US" dirty="0"/>
              <a:t>Task 2.2: Find Top 10 Delayed Routes (Based on Average Delay Hours)– </a:t>
            </a:r>
          </a:p>
          <a:p>
            <a:pPr marL="0" indent="0">
              <a:buNone/>
            </a:pPr>
            <a:r>
              <a:rPr lang="en-US" dirty="0"/>
              <a:t>SELECT --     </a:t>
            </a:r>
            <a:r>
              <a:rPr lang="en-US" dirty="0" err="1"/>
              <a:t>Route_ID</a:t>
            </a:r>
            <a:r>
              <a:rPr lang="en-US" dirty="0"/>
              <a:t>,--     AVG(</a:t>
            </a:r>
            <a:r>
              <a:rPr lang="en-US" dirty="0" err="1"/>
              <a:t>Delay_Hours</a:t>
            </a:r>
            <a:r>
              <a:rPr lang="en-US" dirty="0"/>
              <a:t>) AS </a:t>
            </a:r>
            <a:r>
              <a:rPr lang="en-US" dirty="0" err="1"/>
              <a:t>Avg_Delay_Hours</a:t>
            </a:r>
            <a:r>
              <a:rPr lang="en-US" dirty="0"/>
              <a:t>-- FROM shipments-- GROUP BY </a:t>
            </a:r>
            <a:r>
              <a:rPr lang="en-US" dirty="0" err="1"/>
              <a:t>Route_ID</a:t>
            </a:r>
            <a:r>
              <a:rPr lang="en-US" dirty="0"/>
              <a:t>-- ORDER BY </a:t>
            </a:r>
            <a:r>
              <a:rPr lang="en-US" dirty="0" err="1"/>
              <a:t>Avg_Delay_Hours</a:t>
            </a:r>
            <a:r>
              <a:rPr lang="en-US" dirty="0"/>
              <a:t> DESC-- LIMIT 10;</a:t>
            </a:r>
          </a:p>
          <a:p>
            <a:pPr marL="0" indent="0">
              <a:buNone/>
            </a:pPr>
            <a:r>
              <a:rPr lang="en-US" dirty="0"/>
              <a:t>-- Task 2.3: Rank Shipments by Delay within Each Warehouse</a:t>
            </a:r>
          </a:p>
          <a:p>
            <a:pPr marL="0" indent="0">
              <a:buNone/>
            </a:pPr>
            <a:r>
              <a:rPr lang="en-US" dirty="0"/>
              <a:t>-- SELECT Shipment_ID,    </a:t>
            </a:r>
            <a:r>
              <a:rPr lang="en-US" dirty="0" err="1"/>
              <a:t>Warehouse_ID</a:t>
            </a:r>
            <a:r>
              <a:rPr lang="en-US" dirty="0"/>
              <a:t>, </a:t>
            </a:r>
            <a:r>
              <a:rPr lang="en-US" dirty="0" err="1"/>
              <a:t>Delay_Hours</a:t>
            </a:r>
            <a:r>
              <a:rPr lang="en-US" dirty="0"/>
              <a:t>,   RANK() OVER (--         PARTITION BY </a:t>
            </a:r>
            <a:r>
              <a:rPr lang="en-US" dirty="0" err="1"/>
              <a:t>Warehouse_ID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Delay_Hours</a:t>
            </a:r>
            <a:r>
              <a:rPr lang="en-US" dirty="0"/>
              <a:t> DESC--     ) AS </a:t>
            </a:r>
            <a:r>
              <a:rPr lang="en-US" dirty="0" err="1"/>
              <a:t>Delay_Rank</a:t>
            </a:r>
            <a:r>
              <a:rPr lang="en-US" dirty="0"/>
              <a:t>-- FROM shipments;-- Task 2.4: Identify Average Delay per </a:t>
            </a:r>
            <a:r>
              <a:rPr lang="en-US" dirty="0" err="1"/>
              <a:t>Delivery_Type</a:t>
            </a:r>
            <a:r>
              <a:rPr lang="en-US" dirty="0"/>
              <a:t> (Express vs Standard)-- SELECT --     </a:t>
            </a:r>
            <a:r>
              <a:rPr lang="en-US" dirty="0" err="1"/>
              <a:t>o.Delivery_Type</a:t>
            </a:r>
            <a:r>
              <a:rPr lang="en-US" dirty="0"/>
              <a:t>,--     AVG(</a:t>
            </a:r>
            <a:r>
              <a:rPr lang="en-US" dirty="0" err="1"/>
              <a:t>s.Delay_Hours</a:t>
            </a:r>
            <a:r>
              <a:rPr lang="en-US" dirty="0"/>
              <a:t>) AS </a:t>
            </a:r>
            <a:r>
              <a:rPr lang="en-US" dirty="0" err="1"/>
              <a:t>Avg_Delay_Hours</a:t>
            </a:r>
            <a:r>
              <a:rPr lang="en-US" dirty="0"/>
              <a:t>-- FROM shipments s-- JOIN orders o -- ON </a:t>
            </a:r>
            <a:r>
              <a:rPr lang="en-US" dirty="0" err="1"/>
              <a:t>s.Order_ID</a:t>
            </a:r>
            <a:r>
              <a:rPr lang="en-US" dirty="0"/>
              <a:t> = </a:t>
            </a:r>
            <a:r>
              <a:rPr lang="en-US" dirty="0" err="1"/>
              <a:t>o.Order_ID</a:t>
            </a:r>
            <a:r>
              <a:rPr lang="en-US" dirty="0"/>
              <a:t>-- GROUP BY </a:t>
            </a:r>
            <a:r>
              <a:rPr lang="en-US" dirty="0" err="1"/>
              <a:t>o.Delivery_Type</a:t>
            </a:r>
            <a:r>
              <a:rPr lang="en-US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DDF0-73CB-A21A-0E77-011645D0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41" y="184840"/>
            <a:ext cx="6589200" cy="720596"/>
          </a:xfrm>
        </p:spPr>
        <p:txBody>
          <a:bodyPr/>
          <a:lstStyle/>
          <a:p>
            <a:pPr algn="ctr"/>
            <a:r>
              <a:rPr lang="en-IN" b="1" u="sng" dirty="0"/>
              <a:t>Screenshots Task 2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09DE5-9E96-28A2-13C5-74C3AEC05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47" y="905436"/>
            <a:ext cx="4074529" cy="2896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89C263-624F-FF3E-EF3C-C7BAE3304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47" y="4065850"/>
            <a:ext cx="4197537" cy="2415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4B595B-09F2-1656-D1B9-22E43E37C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017849"/>
            <a:ext cx="4074529" cy="26714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A1644E-8F40-EE0F-5AEA-5654B0B86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218" y="3801744"/>
            <a:ext cx="4000309" cy="246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9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400" y="489639"/>
            <a:ext cx="6589200" cy="1280890"/>
          </a:xfrm>
        </p:spPr>
        <p:txBody>
          <a:bodyPr/>
          <a:lstStyle/>
          <a:p>
            <a:r>
              <a:rPr b="1" u="sng" dirty="0"/>
              <a:t>Task 2: Top Delayed Routes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039216"/>
              </p:ext>
            </p:extLst>
          </p:nvPr>
        </p:nvGraphicFramePr>
        <p:xfrm>
          <a:off x="914399" y="1371599"/>
          <a:ext cx="7960659" cy="4509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8684" y="417922"/>
            <a:ext cx="6589199" cy="1280890"/>
          </a:xfrm>
        </p:spPr>
        <p:txBody>
          <a:bodyPr/>
          <a:lstStyle/>
          <a:p>
            <a:pPr algn="ctr"/>
            <a:r>
              <a:rPr b="1" u="sng" dirty="0"/>
              <a:t>Task 3: Route Optimization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Avg Transit Time:</a:t>
            </a:r>
            <a:r>
              <a:rPr lang="en-IN" dirty="0"/>
              <a:t> </a:t>
            </a:r>
            <a:r>
              <a:rPr dirty="0"/>
              <a:t>AVG(TIMESTAMPDIFF(HOUR,...))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Efficiency Ratio:</a:t>
            </a:r>
            <a:r>
              <a:rPr lang="en-IN" dirty="0"/>
              <a:t> </a:t>
            </a:r>
            <a:r>
              <a:rPr dirty="0" err="1"/>
              <a:t>Distance_KM</a:t>
            </a:r>
            <a:r>
              <a:rPr dirty="0"/>
              <a:t> / </a:t>
            </a:r>
            <a:r>
              <a:rPr dirty="0" err="1"/>
              <a:t>Avg_Transit_Time_Hours</a:t>
            </a:r>
            <a:endParaRPr dirty="0"/>
          </a:p>
          <a:p>
            <a:endParaRPr dirty="0"/>
          </a:p>
          <a:p>
            <a:r>
              <a:rPr dirty="0"/>
              <a:t>Worst Routes:</a:t>
            </a:r>
            <a:r>
              <a:rPr lang="en-IN" dirty="0"/>
              <a:t> </a:t>
            </a:r>
            <a:r>
              <a:rPr dirty="0"/>
              <a:t>ORDER BY </a:t>
            </a:r>
            <a:r>
              <a:rPr dirty="0" err="1"/>
              <a:t>efficiency_ratio</a:t>
            </a:r>
            <a:r>
              <a:rPr dirty="0"/>
              <a:t> ASC LIMIT 3</a:t>
            </a:r>
          </a:p>
          <a:p>
            <a:endParaRPr dirty="0"/>
          </a:p>
          <a:p>
            <a:r>
              <a:rPr dirty="0"/>
              <a:t>Delayed Routes &gt;20% identified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400" y="238628"/>
            <a:ext cx="6589200" cy="1280890"/>
          </a:xfrm>
        </p:spPr>
        <p:txBody>
          <a:bodyPr/>
          <a:lstStyle/>
          <a:p>
            <a:pPr algn="ctr"/>
            <a:r>
              <a:rPr u="sng" dirty="0"/>
              <a:t>Task 3: Route Efficiency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724620"/>
              </p:ext>
            </p:extLst>
          </p:nvPr>
        </p:nvGraphicFramePr>
        <p:xfrm flipV="1">
          <a:off x="1174376" y="1518622"/>
          <a:ext cx="45719" cy="45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8FD0F98-F1EE-D237-891C-B9A41B59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051" y="1389528"/>
            <a:ext cx="5367431" cy="2142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C6DBE4-8830-68DE-5CB6-5BBB6FEC9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773" y="3963175"/>
            <a:ext cx="5711768" cy="28085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2" y="624110"/>
            <a:ext cx="5486540" cy="1280890"/>
          </a:xfrm>
        </p:spPr>
        <p:txBody>
          <a:bodyPr/>
          <a:lstStyle/>
          <a:p>
            <a:pPr algn="ctr"/>
            <a:r>
              <a:rPr b="1" u="sng" dirty="0"/>
              <a:t>Task 4: </a:t>
            </a:r>
            <a:r>
              <a:rPr lang="en-IN" b="1" u="sng" dirty="0"/>
              <a:t> </a:t>
            </a:r>
            <a:r>
              <a:rPr b="1" u="sng" dirty="0"/>
              <a:t>Warehouse Performance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Delayed Warehouses:</a:t>
            </a:r>
            <a:r>
              <a:rPr lang="en-IN" dirty="0"/>
              <a:t> </a:t>
            </a:r>
            <a:r>
              <a:rPr dirty="0"/>
              <a:t>AVG(</a:t>
            </a:r>
            <a:r>
              <a:rPr dirty="0" err="1"/>
              <a:t>Delay_Hours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Total vs Delayed Shipments</a:t>
            </a:r>
          </a:p>
          <a:p>
            <a:endParaRPr dirty="0"/>
          </a:p>
          <a:p>
            <a:r>
              <a:rPr dirty="0"/>
              <a:t>CTE used to compare with Global Avg Delay</a:t>
            </a:r>
          </a:p>
          <a:p>
            <a:endParaRPr dirty="0"/>
          </a:p>
          <a:p>
            <a:r>
              <a:rPr dirty="0"/>
              <a:t>Warehouse Ranking by On-Time 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58C5-D44E-B294-20CD-9B12F1C8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764" y="250365"/>
            <a:ext cx="4509388" cy="747490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Screenshots Task 4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87D5B-94D8-D1DD-46C0-865666EF2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7" y="957514"/>
            <a:ext cx="8301317" cy="28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25F935-B2AD-F7A3-D3AB-DCC165D2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11" y="3886735"/>
            <a:ext cx="8095128" cy="280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6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Task 4: Warehouse Delay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614024"/>
              </p:ext>
            </p:extLst>
          </p:nvPr>
        </p:nvGraphicFramePr>
        <p:xfrm>
          <a:off x="753034" y="1685363"/>
          <a:ext cx="7960659" cy="4294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u="sng" dirty="0"/>
              <a:t>Task 5: Delivery Agent Performance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On-Time % per Agent &amp; Route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Agents Below 85% Identified</a:t>
            </a:r>
          </a:p>
          <a:p>
            <a:endParaRPr dirty="0"/>
          </a:p>
          <a:p>
            <a:r>
              <a:rPr dirty="0"/>
              <a:t>Top vs Bottom Agent Comparison</a:t>
            </a:r>
          </a:p>
          <a:p>
            <a:endParaRPr dirty="0"/>
          </a:p>
          <a:p>
            <a:r>
              <a:rPr dirty="0"/>
              <a:t>Training &amp; Load Balancing Suggested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6D99-D095-2FDF-DB3E-590A1AC9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9D513-E842-0AD9-0557-F7F6C259E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9734" y="1905000"/>
            <a:ext cx="3870894" cy="28950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F84574-C82B-8404-B2CB-EF028BD1A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844" y="1981465"/>
            <a:ext cx="3646556" cy="388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02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Task 6: Shipment Tracking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Latest Status per Shipment</a:t>
            </a:r>
          </a:p>
          <a:p>
            <a:endParaRPr dirty="0"/>
          </a:p>
          <a:p>
            <a:r>
              <a:rPr dirty="0"/>
              <a:t>Routes with Most In-Transit Shipments</a:t>
            </a:r>
          </a:p>
          <a:p>
            <a:endParaRPr dirty="0"/>
          </a:p>
          <a:p>
            <a:r>
              <a:rPr dirty="0"/>
              <a:t>High Delay Shipments (&gt;120 </a:t>
            </a:r>
            <a:r>
              <a:rPr dirty="0" err="1"/>
              <a:t>hrs</a:t>
            </a:r>
            <a:r>
              <a:rPr dirty="0"/>
              <a:t>) Identified</a:t>
            </a:r>
          </a:p>
          <a:p>
            <a:endParaRPr dirty="0"/>
          </a:p>
          <a:p>
            <a:r>
              <a:rPr dirty="0"/>
              <a:t>Operational Bottlenecks Highlighted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75DD-18E8-1E5D-6763-843BDF93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400" y="319310"/>
            <a:ext cx="6589200" cy="1280890"/>
          </a:xfrm>
        </p:spPr>
        <p:txBody>
          <a:bodyPr>
            <a:normAutofit/>
          </a:bodyPr>
          <a:lstStyle/>
          <a:p>
            <a:pPr algn="ctr"/>
            <a:r>
              <a:rPr lang="en-IN" sz="6000" b="1" u="sng" dirty="0"/>
              <a:t>Screenshots: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36C43-CAA5-2875-DACB-4D46538AD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619" y="1413974"/>
            <a:ext cx="4215769" cy="2387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C14EE8-B804-8DAE-86FE-0C19394A4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00" y="3891052"/>
            <a:ext cx="7014953" cy="275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56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400" y="624110"/>
            <a:ext cx="6589199" cy="1280890"/>
          </a:xfrm>
        </p:spPr>
        <p:txBody>
          <a:bodyPr>
            <a:normAutofit/>
          </a:bodyPr>
          <a:lstStyle/>
          <a:p>
            <a:r>
              <a:rPr sz="4800" b="1" u="sng" dirty="0"/>
              <a:t>Task 7: KPI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Avg Delay per Source Country</a:t>
            </a:r>
          </a:p>
          <a:p>
            <a:endParaRPr/>
          </a:p>
          <a:p>
            <a:r>
              <a:t>Overall On-Time Delivery %</a:t>
            </a:r>
          </a:p>
          <a:p>
            <a:endParaRPr/>
          </a:p>
          <a:p>
            <a:r>
              <a:t>Avg Delay per Route</a:t>
            </a:r>
          </a:p>
          <a:p>
            <a:endParaRPr/>
          </a:p>
          <a:p>
            <a:r>
              <a:t>Warehouse Utilization 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530" y="584709"/>
            <a:ext cx="6589199" cy="1280890"/>
          </a:xfrm>
        </p:spPr>
        <p:txBody>
          <a:bodyPr/>
          <a:lstStyle/>
          <a:p>
            <a:pPr algn="ctr"/>
            <a:r>
              <a:rPr b="1" u="sng" dirty="0"/>
              <a:t>Key Insights &amp;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5873" y="2133600"/>
            <a:ext cx="6591985" cy="3777622"/>
          </a:xfrm>
        </p:spPr>
        <p:txBody>
          <a:bodyPr>
            <a:normAutofit/>
          </a:bodyPr>
          <a:lstStyle/>
          <a:p>
            <a:r>
              <a:rPr sz="2400" b="1" dirty="0"/>
              <a:t>Certain routes need redesign &amp; alternate hubs</a:t>
            </a:r>
            <a:r>
              <a:rPr lang="en-IN" sz="2400" b="1" dirty="0"/>
              <a:t>.</a:t>
            </a:r>
            <a:endParaRPr sz="2400" b="1" dirty="0"/>
          </a:p>
          <a:p>
            <a:r>
              <a:rPr sz="2400" b="1" dirty="0"/>
              <a:t>High-delay warehouses require capacity planning</a:t>
            </a:r>
            <a:r>
              <a:rPr lang="en-IN" sz="2400" b="1" dirty="0"/>
              <a:t>.</a:t>
            </a:r>
            <a:endParaRPr sz="2400" b="1" dirty="0"/>
          </a:p>
          <a:p>
            <a:r>
              <a:rPr sz="2400" b="1" dirty="0"/>
              <a:t>Agent training improves delivery performance</a:t>
            </a:r>
            <a:r>
              <a:rPr lang="en-IN" sz="2400" b="1" dirty="0"/>
              <a:t>.</a:t>
            </a:r>
            <a:endParaRPr sz="24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FFE3-0EF1-B49E-FC01-1D8CA5E5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295" y="852710"/>
            <a:ext cx="6589199" cy="1280890"/>
          </a:xfrm>
        </p:spPr>
        <p:txBody>
          <a:bodyPr/>
          <a:lstStyle/>
          <a:p>
            <a:pPr algn="ctr"/>
            <a:r>
              <a:rPr lang="en-IN" b="1" u="sng" dirty="0"/>
              <a:t>Link For the Explanation: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9D6A8-7E83-EDEE-B686-D948A5ADD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3612776"/>
            <a:ext cx="6589199" cy="941295"/>
          </a:xfrm>
        </p:spPr>
        <p:txBody>
          <a:bodyPr>
            <a:normAutofit/>
          </a:bodyPr>
          <a:lstStyle/>
          <a:p>
            <a:r>
              <a:rPr lang="en-IN" b="1" dirty="0"/>
              <a:t>https://drive.google.com/file/d/1cJyrHMSDteewQPYq7KI8nx32SZzx_d65/view?usp=sharing</a:t>
            </a:r>
          </a:p>
        </p:txBody>
      </p:sp>
    </p:spTree>
    <p:extLst>
      <p:ext uri="{BB962C8B-B14F-4D97-AF65-F5344CB8AC3E}">
        <p14:creationId xmlns:p14="http://schemas.microsoft.com/office/powerpoint/2010/main" val="177303744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393</TotalTime>
  <Words>1073</Words>
  <Application>Microsoft Office PowerPoint</Application>
  <PresentationFormat>On-screen Show (4:3)</PresentationFormat>
  <Paragraphs>80</Paragraphs>
  <Slides>18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Wingdings</vt:lpstr>
      <vt:lpstr>Wingdings 3</vt:lpstr>
      <vt:lpstr>Wisp</vt:lpstr>
      <vt:lpstr>DHL Logistics Optimization Project</vt:lpstr>
      <vt:lpstr>Task 1: Data Cleaning &amp; Preparation (SQL)</vt:lpstr>
      <vt:lpstr> Screenshots TASK 1 :</vt:lpstr>
      <vt:lpstr>Task 2: Delivery Delay Analysis (SQL)</vt:lpstr>
      <vt:lpstr>Screenshots Task 2 : </vt:lpstr>
      <vt:lpstr>Task 2: Top Delayed Routes</vt:lpstr>
      <vt:lpstr>Task 3: Route Optimization (SQL)</vt:lpstr>
      <vt:lpstr>Task 3: Route Efficiency Comparison</vt:lpstr>
      <vt:lpstr>Task 4:  Warehouse Performance (SQL)</vt:lpstr>
      <vt:lpstr>Screenshots Task 4 :</vt:lpstr>
      <vt:lpstr>Task 4: Warehouse Delay</vt:lpstr>
      <vt:lpstr>Task 5: Delivery Agent Performance (SQL)</vt:lpstr>
      <vt:lpstr>Screenshots:-</vt:lpstr>
      <vt:lpstr>Task 6: Shipment Tracking Analytics</vt:lpstr>
      <vt:lpstr>Screenshots:</vt:lpstr>
      <vt:lpstr>Task 7: KPI Reporting</vt:lpstr>
      <vt:lpstr>Key Insights &amp; Business Recommendations</vt:lpstr>
      <vt:lpstr>Link For the Explanation: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Amarnath Chatterjee</dc:creator>
  <cp:keywords/>
  <dc:description>generated using python-pptx</dc:description>
  <cp:lastModifiedBy>Amarnath Chatterjee</cp:lastModifiedBy>
  <cp:revision>4</cp:revision>
  <dcterms:created xsi:type="dcterms:W3CDTF">2013-01-27T09:14:16Z</dcterms:created>
  <dcterms:modified xsi:type="dcterms:W3CDTF">2026-01-14T17:28:22Z</dcterms:modified>
  <cp:category/>
</cp:coreProperties>
</file>